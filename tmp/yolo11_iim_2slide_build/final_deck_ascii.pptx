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d8de3ea0b3f44d0" /><Relationship Type="http://schemas.openxmlformats.org/officeDocument/2006/relationships/extended-properties" Target="/docProps/app.xml" Id="R223e63a3d1154268" /><Relationship Type="http://schemas.openxmlformats.org/officeDocument/2006/relationships/officeDocument" Target="/ppt/presentation.xml" Id="R0e91d550fc8a4b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2309e33930441f"/>
    <p:sldMasterId xmlns:r="http://schemas.openxmlformats.org/officeDocument/2006/relationships" id="2147483650" r:id="R1819f6e892604f2d"/>
  </p:sldMasterIdLst>
  <p:notesMasterIdLst>
    <p:notesMasterId xmlns:r="http://schemas.openxmlformats.org/officeDocument/2006/relationships" r:id="Rc9323455152f4923"/>
  </p:notesMasterIdLst>
  <p:sldIdLst>
    <p:sldId xmlns:r="http://schemas.openxmlformats.org/officeDocument/2006/relationships" id="256" r:id="R88d250019a30492b"/>
    <p:sldId xmlns:r="http://schemas.openxmlformats.org/officeDocument/2006/relationships" id="257" r:id="R73656c7c312d47e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55b12882812486e" /><Relationship Type="http://schemas.openxmlformats.org/officeDocument/2006/relationships/slideMaster" Target="/ppt/slideMasters/slideMaster1.xml" Id="R8b2309e33930441f" /><Relationship Type="http://schemas.openxmlformats.org/officeDocument/2006/relationships/slideMaster" Target="/ppt/slideMasters/slideMaster2.xml" Id="R1819f6e892604f2d" /><Relationship Type="http://schemas.openxmlformats.org/officeDocument/2006/relationships/notesMaster" Target="/ppt/notesMasters/notesMaster1.xml" Id="Rc9323455152f4923" /><Relationship Type="http://schemas.openxmlformats.org/officeDocument/2006/relationships/presProps" Target="/ppt/presProps.xml" Id="R2ef28a29934e40bc" /><Relationship Type="http://schemas.openxmlformats.org/officeDocument/2006/relationships/viewProps" Target="/ppt/viewProps.xml" Id="Rb8271c038dd84c8c" /><Relationship Type="http://schemas.openxmlformats.org/officeDocument/2006/relationships/tableStyles" Target="/ppt/tableStyles.xml" Id="R6abdf21a405a49ac" /><Relationship Type="http://schemas.openxmlformats.org/officeDocument/2006/relationships/slide" Target="/ppt/slides/slide1.xml" Id="R88d250019a30492b" /><Relationship Type="http://schemas.openxmlformats.org/officeDocument/2006/relationships/slide" Target="/ppt/slides/slide2.xml" Id="R73656c7c312d47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df8ddeb930cb4b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da3342d0ad54331" /><Relationship Type="http://schemas.openxmlformats.org/officeDocument/2006/relationships/notesMaster" Target="/ppt/notesMasters/notesMaster1.xml" Id="R0819c7095d324e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bed1f84fd446ef" /><Relationship Type="http://schemas.openxmlformats.org/officeDocument/2006/relationships/notesMaster" Target="/ppt/notesMasters/notesMaster1.xml" Id="R4a9aaf547a2c43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報告重點：第六版只把 backbone 第 0 層由 Conv 改為 IIMStem；YAML 的總層數沒有增加，所以 P2/P3/P4/P5、兩階段 CSAR（15–20）以及 Segment26（21）的索引全部維持。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一、輸入與對數。程式先做 x_c(p)=ln(max(I_c(p), ε))，ε=10^-7。影像形成可近似 I_c=ρ_c L+n：ρ_c 是表面反射／材質，L 是照度，n 是感測雜訊。若陰影是 RGB 共同的乘法 α(p)，則 ln(αI_c)=lnα+lnI_c，把乘法陰影變成可相消的加法項。clamp 避免 ln0，但極暗區會集中到 lnε，因此不能把已剪裁資訊救回來。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二、零均值核心。每個可學習 3×3 核 K_m 投影為 K̃_m=K_m−mean_q K_m(q)，所以 Σ_qK̃_m(q)=0。這代表對任何空間常數 u，K̃_m*u=0；在影像辨識上相當於抑制 DC／平坦區，改看局部色彩邊緣、紋理轉折與材質變化。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三、共享核色差。程式以相同 K̃_m 分別卷積兩個 log 色頻，再相減：D_m^{ab}=K̃_m*x_a−K̃_m*x_b=K̃_m*(x_a−x_b)，ab∈{RG,GB,RB}。若 x_a=lnρ_a+lnL、x_b=lnρ_b+lnL，共同 lnL 會精確抵消，只留下 lnρ_a−lnρ_b。共享權重是此等式成立的關鍵；8 個核乘 3 個色對，產生 24 張 IIM 特徵圖。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四、BN 與穩定啟動。RG、GB、RB 各自做 BN(z)=γ(z−μ_B)/sqrt(σ_B²+δ)+β。γ 初始化為 0.01、β=0，使 IIM 分支在訓練初期振幅很小，模型先接近原 RGB stem，再逐步學會何時依賴陰影不變特徵，降低突然改 stem 的訓練震盪。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五、雙分支融合。F_RGB=SiLU(BN(Conv_{3×3,s=2}(I)))；F_IIM=SiLU(BN(Conv_{3×3,s=2}(D)))。兩支各輸出 c₂/2 通道，串接後以 F₀=SiLU(BN(Conv_{1×1}([F_RGB‖F_IIM]))) 回到 c₂。RGB 分支保留絕對亮度、色彩與灰階物體線索；IIM 分支補上對共同陰影較穩定的色彩邊界，避免純不變特徵犧牲有用的亮度訊號。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六、YAML 參數。IIMStem 的 args [64,3,2,8,3] 依序表示名義輸出通道 c₂=64、stem kernel=3、stride=2、IIM kernel 數=8、IIM kernel size=3；compound scale 仍會縮放 c₂。輸出仍是 P1/2，因此後續 6-CSAR 圖與 head 接點不改。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Local: C:/Users/USER/Documents/old_version_iim/Yolov11_AttnRes/ultralytics/cfg/models/11_myself/yolo11-6csar-iim.yaml</a:t>
            </a:r>
            <a:endParaRPr/>
          </a:p>
          <a:p xmlns:a="http://schemas.openxmlformats.org/drawingml/2006/main">
            <a:r>
              <a:t>- Local: C:/Users/USER/Documents/old_version_iim/Yolov11_AttnRes/ultralytics/cfg/models/11_myself/yolo11-6csar.yaml</a:t>
            </a:r>
            <a:endParaRPr/>
          </a:p>
          <a:p xmlns:a="http://schemas.openxmlformats.org/drawingml/2006/main">
            <a:r>
              <a:t>- Local: C:/Users/USER/Documents/old_version_iim/Yolov11_AttnRes/ultralytics/nn/modules/conv.py (IlluminationInvariantConv, IIMStem)</a:t>
            </a:r>
            <a:endParaRPr/>
          </a:p>
          <a:p xmlns:a="http://schemas.openxmlformats.org/drawingml/2006/main">
            <a:r>
              <a:t>- Visual template/architecture image: C:/Users/USER/Desktop/YOLO11_.pptx, source slide 16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報告重點：這頁由陰影成像一路推到 IIM、下游辨識效益、代價與失效條件；可依 1→4 的順序逐式解釋。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一、陰影成像模型。I_c(p)=ρ_c(p)L(p)+n_c(p)。陰影令 L(p)→α(p)L(p)，0&lt;α&lt;1；因此同一材質在亮區與暗區會落在不同 RGB 分布。一般卷積 K*I 無法區分變化來自 ρ 還是 L，會把陰影邊界誤當物體邊界，或把真實邊界因低對比而壓弱；BN 的 batch mean/variance 也會隨照度分布改變。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二、對數域的作用。忽略很小的 n 時，x_c=lnI_c≈lnρ_c+lnL。這不是把影像變亮，而是把乘法照度拆成加法項。影像辨識上的影響是：後續做色頻差時可以代數消除共同照度，而不是要求網路用大量資料自己近似這種不變性。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三、色頻差相消。對任一色對 a,b：x_a−x_b=(lnρ_a+lnL)−(lnρ_b+lnL)=lnρ_a−lnρ_b；再以共享零均值核得到 D_m^{ab}=K̃_m*(x_a−x_b)。專案測試直接以空間變化的單通道 illumination 乘到 RGB，並檢查 IIM(image)≈IIM(image*illumination)，同時驗證 ΣK̃=0。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四、零均值不是同一件事。共同 lnL 的抵消主要來自「log＋通道差＋共享核」；ΣK̃=0 另外讓常數 log-chromaticity／DC 分量歸零，使輸出更像色彩高通。這會突出陰影下仍存在的材質邊界，但對純灰階、顏色相近或只有亮度差的目標可能較弱，所以保留 RGB 分支是必要折衷。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五、精確實作流程。程式先記錄 zero_mask，對 RGB clamp 後取 log；同一組 8 個 3×3 核用於 R、G、B；計算 RG、GB、RB，分別 BN；若配對的來源像素原本恰為 0，就把對應 response 設 0，避免 lnε 產生假強邊。24 張 IIM map 再經 stride-2 Conv 壓到 c₂/2，和 RGB stem 串接，最後 1×1 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六、對本專案的正面影響。較穩定的 P1/2 輸入會沿 AttentionResiduals→FSNetShuffle 傳遞：AR 在同一像素選擇深度 state 時較不會被陰影幅度主導；Shuffle 跨尺度交換時能帶入較可靠的淺層邊界；兩階段 CSAR 再選尺度；Segment26 的 prototype/mask 可獲得較連續的暗部輪廓。最可能受益的是陰影內小物件召回、遮陰邊界、mask IoU/Boundary IoU 與不同曝光域的信心穩定性；這些是預期機制，不是尚未測得的提升數字。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七、成本。IIM 在下採樣前的全解析度 log RGB 上，對三個色對各做兩次 conv2d，實作上共 6 次共享核卷積；之後還有 IIM stride-2 Conv 和 1×1 fusion，因此 stem latency/VRAM 一定高於原單一 Conv。好處是額外成本集中在第 0 層，且後續層數與 head 索引不變。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八、失效與風險。有色光使各 channel 的 L_c 不同，lnL_a−lnL_b 不再為 0；鏡面反射、非 Lambertian 材質與飽和像素破壞乘法模型；極暗區 clamp 到 ε 會放大量化／read noise；IIM 也不能恢復過曝或截黑後已消失的訊息。評估時固定資料切分與訓練設定，只替換 stem，至少分 bright/shadow/deep-shadow、有色光、反光區，回報 box/mask AP、Recall、Mask IoU、Boundary IoU、latency、VRAM，並與 RGB-only 做 controlled ablation。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Local: C:/Users/USER/Documents/old_version_iim/Yolov11_AttnRes/ultralytics/nn/modules/conv.py (forward path, zero mask, BN initialization)</a:t>
            </a:r>
          </a:p>
          <a:p xmlns:a="http://schemas.openxmlformats.org/drawingml/2006/main">
            <a:r>
              <a:t>- Local: C:/Users/USER/Documents/old_version_iim/Yolov11_AttnRes/tests/test_yolo11_6csar_iim.py (zero-mean and achromatic relighting invariance tests)</a:t>
            </a:r>
          </a:p>
          <a:p xmlns:a="http://schemas.openxmlformats.org/drawingml/2006/main">
            <a:r>
              <a:t>- Local: C:/Users/USER/Documents/old_version_iim/Yolov11_AttnRes/ultralytics/cfg/models/11_myself/yolo11-6csar-iim.yaml</a:t>
            </a:r>
          </a:p>
          <a:p xmlns:a="http://schemas.openxmlformats.org/drawingml/2006/main">
            <a:r>
              <a:t>- Visual template: C:/Users/USER/Desktop/YOLO11_.pptx, source slide 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fa1625fdd4f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fe13ce8c841499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5deb8a3bfee4f47" /><Relationship Type="http://schemas.openxmlformats.org/officeDocument/2006/relationships/slideLayout" Target="/ppt/slideLayouts/slideLayout1.xml" Id="Rc940f2b30782415b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8ebd6cfbe984736" /><Relationship Type="http://schemas.openxmlformats.org/officeDocument/2006/relationships/slideLayout" Target="/ppt/slideLayouts/slideLayout2.xml" Id="Ra84515776f6042a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940f2b3078241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a84515776f6042a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dff407276434b" /><Relationship Type="http://schemas.openxmlformats.org/officeDocument/2006/relationships/image" Target="/ppt/media/image.png" Id="R7ae9b299f7e8471d" /><Relationship Type="http://schemas.openxmlformats.org/officeDocument/2006/relationships/notesSlide" Target="/ppt/notesSlides/notesSlide1.xml" Id="Re0315dfd93ef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464efc700d545d0" /><Relationship Type="http://schemas.openxmlformats.org/officeDocument/2006/relationships/notesSlide" Target="/ppt/notesSlides/notesSlide2.xml" Id="R8979ddf9559547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5-title">
            <a:extLst xmlns:a="http://schemas.openxmlformats.org/drawingml/2006/main">
              <a:ext uri="{FF2B5EF4-FFF2-40B4-BE49-F238E27FC236}">
                <a16:creationId xmlns:a16="http://schemas.microsoft.com/office/drawing/2014/main" id="{A1656427-80C1-78B5-609A-197DA3CEC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23850"/>
            <a:ext cx="11404568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4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4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第六版：IIM 處理陰影，6-CSAR 主體不變</a:t>
            </a:r>
          </a:p>
        </p:txBody>
      </p:sp>
      <p:cxnSp>
        <p:nvCxnSpPr>
          <p:cNvPr id="17" name="rule-640-146"/>
          <p:cNvCxnSpPr/>
          <p:nvPr/>
        </p:nvCxnSpPr>
        <p:spPr>
          <a:xfrm xmlns:a="http://schemas.openxmlformats.org/drawingml/2006/main">
            <a:off x="6096000" y="1390650"/>
            <a:ext cx="95" cy="9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4" name="text-uo6fd4u">
            <a:extLst xmlns:a="http://schemas.openxmlformats.org/drawingml/2006/main">
              <a:ext uri="{FF2B5EF4-FFF2-40B4-BE49-F238E27FC236}">
                <a16:creationId xmlns:a16="http://schemas.microsoft.com/office/drawing/2014/main" id="{37B35962-7BB6-9EB3-1673-DD580292E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28750"/>
            <a:ext cx="5334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250" b="1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原 6-CSAR：下游架構與層號不變</a:t>
            </a:r>
          </a:p>
        </p:txBody>
      </p:sp>
      <p:sp>
        <p:nvSpPr>
          <p:cNvPr id="5" name="text-u2p5w1f">
            <a:extLst xmlns:a="http://schemas.openxmlformats.org/drawingml/2006/main">
              <a:ext uri="{FF2B5EF4-FFF2-40B4-BE49-F238E27FC236}">
                <a16:creationId xmlns:a16="http://schemas.microsoft.com/office/drawing/2014/main" id="{A85F2FD2-B258-B4DF-355B-DEB32C81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5314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3D8DFF"/>
                </a:solidFill>
                <a:latin typeface="Microsoft JhengHei"/>
                <a:ea typeface="Microsoft JhengHei"/>
                <a:cs typeface="Microsoft JhengHei"/>
              </a:rPr>
              <a:t>新 IIMStem：雙分支抑制陰影偏移</a:t>
            </a:r>
          </a:p>
        </p:txBody>
      </p:sp>
      <p:sp>
        <p:nvSpPr>
          <p:cNvPr id="6" name="panel-95y9xwz">
            <a:extLst xmlns:a="http://schemas.openxmlformats.org/drawingml/2006/main">
              <a:ext uri="{FF2B5EF4-FFF2-40B4-BE49-F238E27FC236}">
                <a16:creationId xmlns:a16="http://schemas.microsoft.com/office/drawing/2014/main" id="{42C78A4A-EEEE-5E97-C613-929A0221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53149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7cz24ne">
            <a:extLst xmlns:a="http://schemas.openxmlformats.org/drawingml/2006/main">
              <a:ext uri="{FF2B5EF4-FFF2-40B4-BE49-F238E27FC236}">
                <a16:creationId xmlns:a16="http://schemas.microsoft.com/office/drawing/2014/main" id="{F776C711-76B4-7CD2-A7BE-CB231C1C1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52675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x_c=ln(max(I_c,ε));  K′_m=K_m−μ(K_m)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D_m^ab=K′_m*(x_a−x_b),  ab=RG/GB/RB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defRPr>
            </a:pPr>
            <a:r>
              <a:rPr sz="1500" b="0">
                <a:solidFill>
                  <a:srgbClr val="000000"/>
                </a:solidFill>
                <a:latin typeface="Cascadia Mono"/>
                <a:ea typeface="Cascadia Mono"/>
                <a:cs typeface="Cascadia Mono"/>
              </a:rPr>
              <a:t>F₀=Conv₁×₁([F_RGB ‖ F_IIM])</a:t>
            </a:r>
          </a:p>
        </p:txBody>
      </p:sp>
      <p:sp>
        <p:nvSpPr>
          <p:cNvPr id="8" name="text-bk13iu1">
            <a:extLst xmlns:a="http://schemas.openxmlformats.org/drawingml/2006/main">
              <a:ext uri="{FF2B5EF4-FFF2-40B4-BE49-F238E27FC236}">
                <a16:creationId xmlns:a16="http://schemas.microsoft.com/office/drawing/2014/main" id="{AD292227-B60E-BBEC-6F6E-B2FFAD46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33850"/>
            <a:ext cx="53149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01  8 個共享 3×3 核 × 3 色差 → 24 張 IIM maps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02  RGB、IIM 各輸出 c₂/2；Concat→1×1 回到 c₂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</a:rPr>
              <a:t>03  stride=2 維持 P1/2；層號 0–21 與 head 索引不變</a:t>
            </a:r>
          </a:p>
        </p:txBody>
      </p:sp>
      <p:pic>
        <p:nvPicPr>
          <p:cNvPr id="23" name="圖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9b299f7e8471d"/>
          <a:stretch xmlns:a="http://schemas.openxmlformats.org/drawingml/2006/main"/>
        </p:blipFill>
        <p:spPr>
          <a:xfrm xmlns:a="http://schemas.openxmlformats.org/drawingml/2006/main">
            <a:off x="393668" y="2359982"/>
            <a:ext cx="5305425" cy="30143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2076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DA18D9-BBB4-4469-B23E-38D473CA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095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rmAutofit fontScale="9761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第六版｜陰影辨識機制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67203C-D347-4644-AD0A-34C41F3DB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95300"/>
            <a:ext cx="113157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827"/>
                </a:solidFill>
                <a:latin typeface="Arial"/>
                <a:ea typeface="Arial"/>
                <a:cs typeface="Arial"/>
              </a:rPr>
              <a:t>IIM 以對數色差抵消共同照度，並保留原始 RGB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1AC447-3F67-49FD-8A16-F70A76153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1219200"/>
            <a:ext cx="11334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4150D7-AA45-4CD1-B18C-A2B88AECC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62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E45858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45858"/>
                </a:solidFill>
                <a:latin typeface="Arial"/>
                <a:ea typeface="Arial"/>
                <a:cs typeface="Arial"/>
              </a:rPr>
              <a:t>陰影如何改變特徵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F08FC0-2A97-43B8-89F9-BA442920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38350"/>
            <a:ext cx="50958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5688B8-D5C6-4DD2-B666-E9A2CF4C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45720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1. 成像：I_c=ρ_cL+n；陰影令 L→αL（0&lt;α&lt;1）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2. 對數：x_c=lnρ_c+lnL；乘法照度轉為加法偏移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3. 原始 K*I 同時學反射率與照度；暗部邊界、紋理與 BN 統計一起漂移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4. 欠曝／截黑：x_c=ln ε；噪聲與量化誤差被放大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CCE1E9-9A7B-4263-B449-637E5E9D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621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85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6856B"/>
                </a:solidFill>
                <a:latin typeface="Arial"/>
                <a:ea typeface="Arial"/>
                <a:cs typeface="Arial"/>
              </a:rPr>
              <a:t>IIM 如何抵消共同陰影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3E7E5-75E1-4401-93F3-162E4C406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38350"/>
            <a:ext cx="5095875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8F6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6A05F0-2241-40AA-AF7E-7510FD07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66950"/>
            <a:ext cx="4572000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1. 色差：D_m^ab=K′_m*(x_a−x_b)；共同 lnL 抵消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2. 零均值：Σ_qK′_m(q)=0；移除 DC、強化局部色彩邊緣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3. RGB‖IIM→1×1；穩定特徵再進 AR→Shuffle→2×CSAR→Segment26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5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11827"/>
                </a:solidFill>
                <a:latin typeface="Arial"/>
                <a:ea typeface="Arial"/>
                <a:cs typeface="Arial"/>
              </a:rPr>
              <a:t>4. 有色光／反光／極暗會失效；以 shadow AP/Recall、Mask IoU、延遲/VRAM 分桶消融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529CC-AEBA-4FD0-BF5E-DF0DF2EE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77215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結論：暗部邊界與小物件可更穩定；代價是全解析度 log＋6 次共享卷積，且無法恢復已剪裁資訊。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89D0E-A89C-4749-A1CE-F67EDD3F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419850"/>
            <a:ext cx="619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1440" tIns="45720" rIns="91440" bIns="45720" anchor="ctr">
            <a:normAutofit fontScale="79487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86174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8617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615548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2026-09-01T02:29:21.6380000Z</dcterms:created>
  <dcterms:modified xsi:type="dcterms:W3CDTF">2026-09-01T02:29:21.6390000Z</dcterms:modified>
</coreProperties>
</file>