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99fcc115094f5d" /><Relationship Type="http://schemas.openxmlformats.org/officeDocument/2006/relationships/extended-properties" Target="/docProps/app.xml" Id="R26327dff040c4444" /><Relationship Type="http://schemas.openxmlformats.org/officeDocument/2006/relationships/officeDocument" Target="/ppt/presentation.xml" Id="Ra0ec41c5ddae46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ed2c3cdc49445d"/>
    <p:sldMasterId xmlns:r="http://schemas.openxmlformats.org/officeDocument/2006/relationships" id="2147483650" r:id="R40ad1df733904140"/>
  </p:sldMasterIdLst>
  <p:notesMasterIdLst>
    <p:notesMasterId xmlns:r="http://schemas.openxmlformats.org/officeDocument/2006/relationships" r:id="Rf397f56eb44e4584"/>
  </p:notesMasterIdLst>
  <p:sldIdLst>
    <p:sldId xmlns:r="http://schemas.openxmlformats.org/officeDocument/2006/relationships" id="256" r:id="R812cb379d098459e"/>
    <p:sldId xmlns:r="http://schemas.openxmlformats.org/officeDocument/2006/relationships" id="257" r:id="Rdac3892c52dc4e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e972cbdb814dd7" /><Relationship Type="http://schemas.openxmlformats.org/officeDocument/2006/relationships/slideMaster" Target="/ppt/slideMasters/slideMaster1.xml" Id="R35ed2c3cdc49445d" /><Relationship Type="http://schemas.openxmlformats.org/officeDocument/2006/relationships/slideMaster" Target="/ppt/slideMasters/slideMaster2.xml" Id="R40ad1df733904140" /><Relationship Type="http://schemas.openxmlformats.org/officeDocument/2006/relationships/notesMaster" Target="/ppt/notesMasters/notesMaster1.xml" Id="Rf397f56eb44e4584" /><Relationship Type="http://schemas.openxmlformats.org/officeDocument/2006/relationships/presProps" Target="/ppt/presProps.xml" Id="Rd338b278568f4243" /><Relationship Type="http://schemas.openxmlformats.org/officeDocument/2006/relationships/viewProps" Target="/ppt/viewProps.xml" Id="R00daaef8f7bb4179" /><Relationship Type="http://schemas.openxmlformats.org/officeDocument/2006/relationships/tableStyles" Target="/ppt/tableStyles.xml" Id="R12ce1abd9f0d4ccc" /><Relationship Type="http://schemas.openxmlformats.org/officeDocument/2006/relationships/slide" Target="/ppt/slides/slide1.xml" Id="R812cb379d098459e" /><Relationship Type="http://schemas.openxmlformats.org/officeDocument/2006/relationships/slide" Target="/ppt/slides/slide2.xml" Id="Rdac3892c52dc4e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6160dc1d82844c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60c7a0dc984a4b" /><Relationship Type="http://schemas.openxmlformats.org/officeDocument/2006/relationships/notesMaster" Target="/ppt/notesMasters/notesMaster1.xml" Id="R76ec5d9e06e046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380920f778441f" /><Relationship Type="http://schemas.openxmlformats.org/officeDocument/2006/relationships/notesMaster" Target="/ppt/notesMasters/notesMaster1.xml" Id="Rfb99b603c0194d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架構狀態：使用者圖片對應 </a:t>
            </a:r>
            <a:r>
              <a:t>ultralytics</a:t>
            </a:r>
            <a:r>
              <a:t>/</a:t>
            </a:r>
            <a:r>
              <a:t>cfg</a:t>
            </a:r>
            <a:r>
              <a:t>/models/11/yolo11-0621-2.yaml</a:t>
            </a:r>
            <a:r>
              <a:t>。骨幹仍是 </a:t>
            </a:r>
            <a:r>
              <a:t>Conv→AttentionResiduals→FSNetShuffle</a:t>
            </a:r>
            <a:r>
              <a:t>，</a:t>
            </a:r>
            <a:r>
              <a:t>head </a:t>
            </a:r>
            <a:r>
              <a:t>為兩層 </a:t>
            </a:r>
            <a:r>
              <a:t>CSAR </a:t>
            </a:r>
            <a:r>
              <a:t>後接 </a:t>
            </a:r>
            <a:r>
              <a:t>Segment26</a:t>
            </a:r>
            <a:r>
              <a:t>；因此第五版以重疊損傷為主軸時，主要改動應是 </a:t>
            </a:r>
            <a:r>
              <a:t>target representation </a:t>
            </a:r>
            <a:r>
              <a:t>與 </a:t>
            </a:r>
            <a:r>
              <a:t>loss</a:t>
            </a:r>
            <a:r>
              <a:t>，而不是再改 </a:t>
            </a:r>
            <a:r>
              <a:t>backbone</a:t>
            </a:r>
            <a:r>
              <a:t>。</a:t>
            </a:r>
          </a:p>
          <a:p xmlns:a="http://schemas.openxmlformats.org/drawingml/2006/main">
            <a:r>
              <a:t>AR </a:t>
            </a:r>
            <a:r>
              <a:t>與 </a:t>
            </a:r>
            <a:r>
              <a:t>Shuffle</a:t>
            </a:r>
            <a:r>
              <a:t>：</a:t>
            </a:r>
            <a:r>
              <a:t>AttentionResiduals</a:t>
            </a:r>
            <a:r>
              <a:t> </a:t>
            </a:r>
            <a:r>
              <a:t>在同一像素上以 </a:t>
            </a:r>
            <a:r>
              <a:t>α_</a:t>
            </a:r>
            <a:r>
              <a:t>m=</a:t>
            </a:r>
            <a:r>
              <a:t>softmax_m</a:t>
            </a:r>
            <a:r>
              <a:t>(</a:t>
            </a:r>
            <a:r>
              <a:t>qᵀK_m</a:t>
            </a:r>
            <a:r>
              <a:t>) </a:t>
            </a:r>
            <a:r>
              <a:t>混合不同深度狀態 </a:t>
            </a:r>
            <a:r>
              <a:t>A=</a:t>
            </a:r>
            <a:r>
              <a:t>Σ_</a:t>
            </a:r>
            <a:r>
              <a:t>m</a:t>
            </a:r>
            <a:r>
              <a:t>α_</a:t>
            </a:r>
            <a:r>
              <a:t>mV_m</a:t>
            </a:r>
            <a:r>
              <a:t>；</a:t>
            </a:r>
            <a:r>
              <a:t>FSNetShuffle</a:t>
            </a:r>
            <a:r>
              <a:t> </a:t>
            </a:r>
            <a:r>
              <a:t>再投影、串接並排列 </a:t>
            </a:r>
            <a:r>
              <a:t>Conv </a:t>
            </a:r>
            <a:r>
              <a:t>與 </a:t>
            </a:r>
            <a:r>
              <a:t>AR </a:t>
            </a:r>
            <a:r>
              <a:t>通道。對重疊損傷，淺層 </a:t>
            </a:r>
            <a:r>
              <a:t>state </a:t>
            </a:r>
            <a:r>
              <a:t>提供裂紋、剝落邊界，深層 </a:t>
            </a:r>
            <a:r>
              <a:t>state </a:t>
            </a:r>
            <a:r>
              <a:t>提供損傷類別與結構語意。</a:t>
            </a:r>
          </a:p>
          <a:p xmlns:a="http://schemas.openxmlformats.org/drawingml/2006/main">
            <a:r>
              <a:t>雙層 </a:t>
            </a:r>
            <a:r>
              <a:t>CSAR</a:t>
            </a:r>
            <a:r>
              <a:t>：</a:t>
            </a:r>
            <a:r>
              <a:t>C_t¹=</a:t>
            </a:r>
            <a:r>
              <a:t>CSAR_t</a:t>
            </a:r>
            <a:r>
              <a:t>(P2,P3,P4,P5)</a:t>
            </a:r>
            <a:r>
              <a:t>，</a:t>
            </a:r>
            <a:r>
              <a:t>C_t²=</a:t>
            </a:r>
            <a:r>
              <a:t>CSAR_t</a:t>
            </a:r>
            <a:r>
              <a:t>(P2,C₃¹,C₄¹,C₅¹)</a:t>
            </a:r>
            <a:r>
              <a:t>。每個像素與 </a:t>
            </a:r>
            <a:r>
              <a:t>head </a:t>
            </a:r>
            <a:r>
              <a:t>以 </a:t>
            </a:r>
            <a:r>
              <a:t>β_</a:t>
            </a:r>
            <a:r>
              <a:t>i</a:t>
            </a:r>
            <a:r>
              <a:t>=</a:t>
            </a:r>
            <a:r>
              <a:t>softmax_i</a:t>
            </a:r>
            <a:r>
              <a:t>((</a:t>
            </a:r>
            <a:r>
              <a:t>Q·K_i</a:t>
            </a:r>
            <a:r>
              <a:t>)/√</a:t>
            </a:r>
            <a:r>
              <a:t>d_k</a:t>
            </a:r>
            <a:r>
              <a:t>) </a:t>
            </a:r>
            <a:r>
              <a:t>選擇尺度，再計算 </a:t>
            </a:r>
            <a:r>
              <a:t>U=</a:t>
            </a:r>
            <a:r>
              <a:t>Σ_</a:t>
            </a:r>
            <a:r>
              <a:t>i</a:t>
            </a:r>
            <a:r>
              <a:t>β_</a:t>
            </a:r>
            <a:r>
              <a:t>iV_i</a:t>
            </a:r>
            <a:r>
              <a:t>。重疊區常同時包含細線紋理和大面積損傷，兩層 </a:t>
            </a:r>
            <a:r>
              <a:t>CSAR </a:t>
            </a:r>
            <a:r>
              <a:t>可先整合原始尺度，再重新評估已精煉尺度。</a:t>
            </a:r>
          </a:p>
          <a:p xmlns:a="http://schemas.openxmlformats.org/drawingml/2006/main">
            <a:r>
              <a:t>標準單標籤問題：</a:t>
            </a:r>
            <a:r>
              <a:t>semantic target </a:t>
            </a:r>
            <a:r>
              <a:t>通常寫成 </a:t>
            </a:r>
            <a:r>
              <a:t>T_c</a:t>
            </a:r>
            <a:r>
              <a:t>=1[s(</a:t>
            </a:r>
            <a:r>
              <a:t>h,w</a:t>
            </a:r>
            <a:r>
              <a:t>)=c]</a:t>
            </a:r>
            <a:r>
              <a:t>，因此 </a:t>
            </a:r>
            <a:r>
              <a:t>Σ_</a:t>
            </a:r>
            <a:r>
              <a:t>cT_c</a:t>
            </a:r>
            <a:r>
              <a:t>=1</a:t>
            </a:r>
            <a:r>
              <a:t>；同一像素若同時屬於裂縫與剝落，只能保留一類。現有 </a:t>
            </a:r>
            <a:r>
              <a:t>Format </a:t>
            </a:r>
            <a:r>
              <a:t>即使 </a:t>
            </a:r>
            <a:r>
              <a:t>overlap_mask</a:t>
            </a:r>
            <a:r>
              <a:t>=False</a:t>
            </a:r>
            <a:r>
              <a:t>，也會在 </a:t>
            </a:r>
            <a:r>
              <a:t>sem_masks</a:t>
            </a:r>
            <a:r>
              <a:t> </a:t>
            </a:r>
            <a:r>
              <a:t>的重疊位置選擇一個 </a:t>
            </a:r>
            <a:r>
              <a:t>instance </a:t>
            </a:r>
            <a:r>
              <a:t>類別，因此 </a:t>
            </a:r>
            <a:r>
              <a:t>Segment26 </a:t>
            </a:r>
            <a:r>
              <a:t>的 </a:t>
            </a:r>
            <a:r>
              <a:t>semantic auxiliary branch </a:t>
            </a:r>
            <a:r>
              <a:t>仍是互斥目標。</a:t>
            </a:r>
          </a:p>
          <a:p xmlns:a="http://schemas.openxmlformats.org/drawingml/2006/main">
            <a:r>
              <a:t>重疊 </a:t>
            </a:r>
            <a:r>
              <a:t>multi-hot target</a:t>
            </a:r>
            <a:r>
              <a:t>：保留每個 </a:t>
            </a:r>
            <a:r>
              <a:t>instance </a:t>
            </a:r>
            <a:r>
              <a:t>的二值遮罩 </a:t>
            </a:r>
            <a:r>
              <a:t>M_j</a:t>
            </a:r>
            <a:r>
              <a:t> </a:t>
            </a:r>
            <a:r>
              <a:t>與類別 </a:t>
            </a:r>
            <a:r>
              <a:t>y_j</a:t>
            </a:r>
            <a:r>
              <a:t>，建立 </a:t>
            </a:r>
            <a:r>
              <a:t>T_{</a:t>
            </a:r>
            <a:r>
              <a:t>b,c</a:t>
            </a:r>
            <a:r>
              <a:t>}(</a:t>
            </a:r>
            <a:r>
              <a:t>h,w</a:t>
            </a:r>
            <a:r>
              <a:t>)=max_{</a:t>
            </a:r>
            <a:r>
              <a:t>j:b_j</a:t>
            </a:r>
            <a:r>
              <a:t>=</a:t>
            </a:r>
            <a:r>
              <a:t>b,y_j</a:t>
            </a:r>
            <a:r>
              <a:t>=c}</a:t>
            </a:r>
            <a:r>
              <a:t>M_j</a:t>
            </a:r>
            <a:r>
              <a:t>(</a:t>
            </a:r>
            <a:r>
              <a:t>h,w</a:t>
            </a:r>
            <a:r>
              <a:t>)</a:t>
            </a:r>
            <a:r>
              <a:t>。不同類別可同時為 </a:t>
            </a:r>
            <a:r>
              <a:t>1</a:t>
            </a:r>
            <a:r>
              <a:t>；同類別多個 </a:t>
            </a:r>
            <a:r>
              <a:t>instance </a:t>
            </a:r>
            <a:r>
              <a:t>重疊仍維持 </a:t>
            </a:r>
            <a:r>
              <a:t>1</a:t>
            </a:r>
            <a:r>
              <a:t>。下採樣使用 </a:t>
            </a:r>
            <a:r>
              <a:t>AdaptiveMaxPool</a:t>
            </a:r>
            <a:r>
              <a:t> </a:t>
            </a:r>
            <a:r>
              <a:t>可保留稀疏正像素，上採樣使用 </a:t>
            </a:r>
            <a:r>
              <a:t>nearest </a:t>
            </a:r>
            <a:r>
              <a:t>避免產生非二值標籤。</a:t>
            </a:r>
          </a:p>
          <a:p xmlns:a="http://schemas.openxmlformats.org/drawingml/2006/main">
            <a:r>
              <a:t>獨立輸出：</a:t>
            </a:r>
            <a:r>
              <a:t>p_c</a:t>
            </a:r>
            <a:r>
              <a:t>(</a:t>
            </a:r>
            <a:r>
              <a:t>h,w</a:t>
            </a:r>
            <a:r>
              <a:t>)=</a:t>
            </a:r>
            <a:r>
              <a:t>σ(</a:t>
            </a:r>
            <a:r>
              <a:t>z_c</a:t>
            </a:r>
            <a:r>
              <a:t>(</a:t>
            </a:r>
            <a:r>
              <a:t>h,w</a:t>
            </a:r>
            <a:r>
              <a:t>))</a:t>
            </a:r>
            <a:r>
              <a:t>，每一類分別做 </a:t>
            </a:r>
            <a:r>
              <a:t>Bernoulli </a:t>
            </a:r>
            <a:r>
              <a:t>判斷，不使用 </a:t>
            </a:r>
            <a:r>
              <a:t>class </a:t>
            </a:r>
            <a:r>
              <a:t>softmax</a:t>
            </a:r>
            <a:r>
              <a:t>，所以 </a:t>
            </a:r>
            <a:r>
              <a:t>Σ_</a:t>
            </a:r>
            <a:r>
              <a:t>cp_c</a:t>
            </a:r>
            <a:r>
              <a:t> </a:t>
            </a:r>
            <a:r>
              <a:t>不必等於 </a:t>
            </a:r>
            <a:r>
              <a:t>1</a:t>
            </a:r>
            <a:r>
              <a:t>。這是同一像素同時預測多種損傷的數學必要條件。</a:t>
            </a:r>
          </a:p>
          <a:p xmlns:a="http://schemas.openxmlformats.org/drawingml/2006/main">
            <a:r>
              <a:t>專案內已有 </a:t>
            </a:r>
            <a:r>
              <a:t>MSATMultiLabel</a:t>
            </a:r>
            <a:r>
              <a:t> class-conditioned readout</a:t>
            </a:r>
            <a:r>
              <a:t>：</a:t>
            </a:r>
            <a:r>
              <a:t>a_{</a:t>
            </a:r>
            <a:r>
              <a:t>h,c,s</a:t>
            </a:r>
            <a:r>
              <a:t>}=</a:t>
            </a:r>
            <a:r>
              <a:t>softmax_s</a:t>
            </a:r>
            <a:r>
              <a:t>(q_{</a:t>
            </a:r>
            <a:r>
              <a:t>h,c</a:t>
            </a:r>
            <a:r>
              <a:t>}ᵀk_{</a:t>
            </a:r>
            <a:r>
              <a:t>h,s</a:t>
            </a:r>
            <a:r>
              <a:t>}/√d)</a:t>
            </a:r>
            <a:r>
              <a:t>，</a:t>
            </a:r>
            <a:r>
              <a:t>e_{</a:t>
            </a:r>
            <a:r>
              <a:t>s,c</a:t>
            </a:r>
            <a:r>
              <a:t>}=</a:t>
            </a:r>
            <a:r>
              <a:t>W_e</a:t>
            </a:r>
            <a:r>
              <a:t> </a:t>
            </a:r>
            <a:r>
              <a:t>x_s</a:t>
            </a:r>
            <a:r>
              <a:t>，</a:t>
            </a:r>
            <a:r>
              <a:t>z_c</a:t>
            </a:r>
            <a:r>
              <a:t>=</a:t>
            </a:r>
            <a:r>
              <a:t>b_c</a:t>
            </a:r>
            <a:r>
              <a:t>+</a:t>
            </a:r>
            <a:r>
              <a:t>Σ_</a:t>
            </a:r>
            <a:r>
              <a:t>s </a:t>
            </a:r>
            <a:r>
              <a:t>mean_h</a:t>
            </a:r>
            <a:r>
              <a:t>(a_{</a:t>
            </a:r>
            <a:r>
              <a:t>h,c,s</a:t>
            </a:r>
            <a:r>
              <a:t>})e_{</a:t>
            </a:r>
            <a:r>
              <a:t>s,c</a:t>
            </a:r>
            <a:r>
              <a:t>}</a:t>
            </a:r>
            <a:r>
              <a:t>。每個損傷類別可從不同尺度 </a:t>
            </a:r>
            <a:r>
              <a:t>state </a:t>
            </a:r>
            <a:r>
              <a:t>取證據；但目前沒有任何 </a:t>
            </a:r>
            <a:r>
              <a:t>YAML </a:t>
            </a:r>
            <a:r>
              <a:t>接上 </a:t>
            </a:r>
            <a:r>
              <a:t>MSATMultiLabel</a:t>
            </a:r>
            <a:r>
              <a:t>／</a:t>
            </a:r>
            <a:r>
              <a:t>Segment26MultiLabel</a:t>
            </a:r>
            <a:r>
              <a:t>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C:/Users/pengj/AppData/Local/Temp/codex-clipboard-b98a07b6-09ea-453b-af1b-6732ace42cfa.png</a:t>
            </a:r>
          </a:p>
          <a:p xmlns:a="http://schemas.openxmlformats.org/drawingml/2006/main">
            <a:r>
              <a:t>- Local: </a:t>
            </a:r>
            <a:r>
              <a:t>ultralytics</a:t>
            </a:r>
            <a:r>
              <a:t>/</a:t>
            </a:r>
            <a:r>
              <a:t>cfg</a:t>
            </a:r>
            <a:r>
              <a:t>/models/11/yolo11-0621-2.yaml:21-55</a:t>
            </a:r>
          </a:p>
          <a:p xmlns:a="http://schemas.openxmlformats.org/drawingml/2006/main">
            <a:r>
              <a:t>- Local: </a:t>
            </a:r>
            <a:r>
              <a:t>ultralytics</a:t>
            </a:r>
            <a:r>
              <a:t>/data/augment.py:2313-2337,2453-2460</a:t>
            </a:r>
          </a:p>
          <a:p xmlns:a="http://schemas.openxmlformats.org/drawingml/2006/main">
            <a:r>
              <a:t>- Local: </a:t>
            </a:r>
            <a:r>
              <a:t>ultralytics</a:t>
            </a:r>
            <a:r>
              <a:t>/</a:t>
            </a:r>
            <a:r>
              <a:t>nn</a:t>
            </a:r>
            <a:r>
              <a:t>/modules/block.py:1083-1139,1530-1578,1679-1758,2148-2245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Local: ultralytics/cfg/default.yaml:16,33,39,43,114-128</a:t>
            </a:r>
          </a:p>
          <a:p xmlns:a="http://schemas.openxmlformats.org/drawingml/2006/main">
            <a:r>
              <a:t>Solutions are prioritized engineering recommendations; validate with controlled ablations.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files and user-provided problem image; architecture-level interpretation, not measured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e2795f7fed402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20918841eed4e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4e067fb4b14398" /><Relationship Type="http://schemas.openxmlformats.org/officeDocument/2006/relationships/slideLayout" Target="/ppt/slideLayouts/slideLayout1.xml" Id="R2a4e149e9aa64f0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3116b87dfb746cf" /><Relationship Type="http://schemas.openxmlformats.org/officeDocument/2006/relationships/slideLayout" Target="/ppt/slideLayouts/slideLayout2.xml" Id="R18c3eb7d18ae4b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4e149e9aa64f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18c3eb7d18ae4b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3a92554b44fcf" /><Relationship Type="http://schemas.openxmlformats.org/officeDocument/2006/relationships/image" Target="/ppt/media/image.png" Id="R62f8beda5cbb4cfe" /><Relationship Type="http://schemas.openxmlformats.org/officeDocument/2006/relationships/notesSlide" Target="/ppt/notesSlides/notesSlide1.xml" Id="Ra243e2fb96e14a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0e71b88ce04856" /><Relationship Type="http://schemas.openxmlformats.org/officeDocument/2006/relationships/notesSlide" Target="/ppt/notesSlides/notesSlide2.xml" Id="Ra67d4aee17eb4e8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A1656427-80C1-78B5-609A-197DA3CE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404568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第五版：重疊損傷 Multi-label 監督</a:t>
            </a:r>
          </a:p>
        </p:txBody>
      </p:sp>
      <p:cxnSp>
        <p:nvCxnSpPr>
          <p:cNvPr id="14" name="rule-640-146"/>
          <p:cNvCxnSpPr/>
          <p:nvPr/>
        </p:nvCxnSpPr>
        <p:spPr>
          <a:xfrm xmlns:a="http://schemas.openxmlformats.org/drawingml/2006/main">
            <a:off x="6096000" y="1390650"/>
            <a:ext cx="9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-uo6fd4u">
            <a:extLst xmlns:a="http://schemas.openxmlformats.org/drawingml/2006/main">
              <a:ext uri="{FF2B5EF4-FFF2-40B4-BE49-F238E27FC236}">
                <a16:creationId xmlns:a16="http://schemas.microsoft.com/office/drawing/2014/main" id="{37B35962-7BB6-9EB3-1673-DD580292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yolo11-0621-2 架構</a:t>
            </a:r>
          </a:p>
        </p:txBody>
      </p:sp>
      <p:sp>
        <p:nvSpPr>
          <p:cNvPr id="5" name="text-u2p5w1f">
            <a:extLst xmlns:a="http://schemas.openxmlformats.org/drawingml/2006/main">
              <a:ext uri="{FF2B5EF4-FFF2-40B4-BE49-F238E27FC236}">
                <a16:creationId xmlns:a16="http://schemas.microsoft.com/office/drawing/2014/main" id="{A85F2FD2-B258-B4DF-355B-DEB32C81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8750"/>
            <a:ext cx="5314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同一像素允許多種損傷</a:t>
            </a:r>
          </a:p>
        </p:txBody>
      </p:sp>
      <p:sp>
        <p:nvSpPr>
          <p:cNvPr id="6" name="panel-95y9xwz">
            <a:extLst xmlns:a="http://schemas.openxmlformats.org/drawingml/2006/main">
              <a:ext uri="{FF2B5EF4-FFF2-40B4-BE49-F238E27FC236}">
                <a16:creationId xmlns:a16="http://schemas.microsoft.com/office/drawing/2014/main" id="{42C78A4A-EEEE-5E97-C613-929A0221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53149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7cz24ne">
            <a:extLst xmlns:a="http://schemas.openxmlformats.org/drawingml/2006/main">
              <a:ext uri="{FF2B5EF4-FFF2-40B4-BE49-F238E27FC236}">
                <a16:creationId xmlns:a16="http://schemas.microsoft.com/office/drawing/2014/main" id="{F776C711-76B4-7CD2-A7BE-CB231C1C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5267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000000"/>
                </a:solidFill>
                <a:latin typeface="Cascadia Mono"/>
                <a:ea typeface="Cascadia Mono"/>
                <a:cs typeface="Cascadia Mono"/>
              </a:rPr>
              <a:t>T_c(h,w) = max_{j:y_j=c} M_j(h,w)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000000"/>
                </a:solidFill>
                <a:latin typeface="Cascadia Mono"/>
                <a:ea typeface="Cascadia Mono"/>
                <a:cs typeface="Cascadia Mono"/>
              </a:rPr>
              <a:t>p_c(h,w) = σ(z_c),  not softmax_c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000000"/>
                </a:solidFill>
                <a:latin typeface="Cascadia Mono"/>
                <a:ea typeface="Cascadia Mono"/>
                <a:cs typeface="Cascadia Mono"/>
              </a:rPr>
              <a:t>L_ov = 0.5 BCE_w + 0.5 Dice</a:t>
            </a:r>
          </a:p>
        </p:txBody>
      </p:sp>
      <p:sp>
        <p:nvSpPr>
          <p:cNvPr id="8" name="text-bk13iu1">
            <a:extLst xmlns:a="http://schemas.openxmlformats.org/drawingml/2006/main">
              <a:ext uri="{FF2B5EF4-FFF2-40B4-BE49-F238E27FC236}">
                <a16:creationId xmlns:a16="http://schemas.microsoft.com/office/drawing/2014/main" id="{AD292227-B60E-BBEC-6F6E-B2FFAD46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33850"/>
            <a:ext cx="53149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01  AR＋Shuffle：保留紋理與深層語意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02  2×CSAR：重疊區重新選擇尺度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03  Segment：prototype 分離每個 instance</a:t>
            </a:r>
          </a:p>
        </p:txBody>
      </p:sp>
      <p:pic>
        <p:nvPicPr>
          <p:cNvPr id="20" name="圖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f8beda5cbb4cfe"/>
          <a:stretch xmlns:a="http://schemas.openxmlformats.org/drawingml/2006/main"/>
        </p:blipFill>
        <p:spPr>
          <a:xfrm xmlns:a="http://schemas.openxmlformats.org/drawingml/2006/main">
            <a:off x="393668" y="2359982"/>
            <a:ext cx="5305425" cy="30143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076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DA18D9-BBB4-4469-B23E-38D473CA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問題 03｜光線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7203C-D347-4644-AD0A-34C41F3D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315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光線改變的是像素分布，不只是亮或暗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AC447-3F67-49FD-8A16-F70A7615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1920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150D7-AA45-4CD1-B18C-A2B88AEC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4585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45858"/>
                </a:solidFill>
                <a:latin typeface="Arial"/>
                <a:ea typeface="Arial"/>
                <a:cs typeface="Arial"/>
              </a:rPr>
              <a:t>為什麼會發生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08FC0-2A97-43B8-89F9-BA442920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509587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688B8-D5C6-4DD2-B666-E9A2CF4C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457200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1. 過曝會剪裁亮部、欠曝會埋掉暗部：資訊不可逆消失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2. 色溫、反光、陰影會改變紋理與類別外觀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3. 訓練與現場相機的曝光／白平衡不同，形成 domain shift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4. 自動曝光逐幀波動，導致信心值不穩定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CE1E9-9A7B-4263-B449-637E5E9D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621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85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856B"/>
                </a:solidFill>
                <a:latin typeface="Arial"/>
                <a:ea typeface="Arial"/>
                <a:cs typeface="Arial"/>
              </a:rPr>
              <a:t>怎麼解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3E7E5-75E1-4401-93F3-162E4C40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509587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A05F0-2241-40AA-AF7E-7510FD07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57200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6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1. 先穩定相機：固定曝光／白平衡、補光、偏振片或遮光罩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2. 收集真實極端光線資料；用 HSV、gamma、contrast、shadow 增強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3. 推論前僅做一致的輕量校正，避免過度增強放大雜訊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4. 依亮度分桶驗證，必要時做相機別校正或 domain adaptation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529CC-AEBA-4FD0-BF5E-DF0DF2EE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721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原則：先修資料與成像，再調模型；否則只能把錯誤訊號學得更快。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89D0E-A89C-4749-A1CE-F67EDD3F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615548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2026-09-01T02:24:45.2580000Z</dcterms:created>
  <dcterms:modified xsi:type="dcterms:W3CDTF">2026-09-01T02:24:45.2580000Z</dcterms:modified>
</coreProperties>
</file>