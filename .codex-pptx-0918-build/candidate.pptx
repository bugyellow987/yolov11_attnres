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2e96acf3db48f9" /><Relationship Type="http://schemas.openxmlformats.org/officeDocument/2006/relationships/extended-properties" Target="/docProps/app.xml" Id="Rad5ef6ea592743b3" /><Relationship Type="http://schemas.openxmlformats.org/officeDocument/2006/relationships/officeDocument" Target="/ppt/presentation.xml" Id="R526dbe6b91de49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371117961d4107"/>
  </p:sldMasterIdLst>
  <p:notesMasterIdLst>
    <p:notesMasterId xmlns:r="http://schemas.openxmlformats.org/officeDocument/2006/relationships" r:id="R274924be20d243c5"/>
  </p:notesMasterIdLst>
  <p:sldIdLst>
    <p:sldId xmlns:r="http://schemas.openxmlformats.org/officeDocument/2006/relationships" id="256" r:id="Re9bd92c0e6494904"/>
    <p:sldId xmlns:r="http://schemas.openxmlformats.org/officeDocument/2006/relationships" id="257" r:id="R4362897e97d348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50c31eb7314d55" /><Relationship Type="http://schemas.openxmlformats.org/officeDocument/2006/relationships/slideMaster" Target="/ppt/slideMasters/slideMaster1.xml" Id="R1e371117961d4107" /><Relationship Type="http://schemas.openxmlformats.org/officeDocument/2006/relationships/notesMaster" Target="/ppt/notesMasters/notesMaster1.xml" Id="R274924be20d243c5" /><Relationship Type="http://schemas.openxmlformats.org/officeDocument/2006/relationships/presProps" Target="/ppt/presProps.xml" Id="R91bb5ed198d34676" /><Relationship Type="http://schemas.openxmlformats.org/officeDocument/2006/relationships/tableStyles" Target="/ppt/tableStyles.xml" Id="Rd7cec3780ace4050" /><Relationship Type="http://schemas.openxmlformats.org/officeDocument/2006/relationships/slide" Target="/ppt/slides/slide1.xml" Id="Re9bd92c0e6494904" /><Relationship Type="http://schemas.openxmlformats.org/officeDocument/2006/relationships/slide" Target="/ppt/slides/slide2.xml" Id="R4362897e97d348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7c6906fa4d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72921a75c74ba1" /><Relationship Type="http://schemas.openxmlformats.org/officeDocument/2006/relationships/notesMaster" Target="/ppt/notesMasters/notesMaster1.xml" Id="R67655954d18744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bb8ac3dd174096" /><Relationship Type="http://schemas.openxmlformats.org/officeDocument/2006/relationships/notesMaster" Target="/ppt/notesMasters/notesMaster1.xml" Id="R0137e829bb334a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公式來源：ultralytics/utils/training_aux_ops.py 的 shadow_view、consistency_loss，以及 ultralytics/utils/training_aux_0918.py 的 training_auxiliary_loss。圖片由使用者提供；這是 0912 推論疊圖，不是 GT，不能據此宣稱七版效果。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七版來源：ultralytics/cfg/models/11_myself/yolo11-10csar-dr-trainonly-0918-*.yaml。邊界與交集來源：ultralytics/utils/training_aux_ops.py；訓練 loss 插入位置：ultralytics/utils/training_aux_0918.py。原有共存權重來源：ultralytics/utils/loss.py。這些是機制與待驗證假說，尚無真實資料集效益數據。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756f9199040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a60ba8878a410d" /><Relationship Type="http://schemas.openxmlformats.org/officeDocument/2006/relationships/slideLayout" Target="/ppt/slideLayouts/slideLayout1.xml" Id="Ra0d335d5fa3c47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335d5fa3c47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7a169f6be4af8" /><Relationship Type="http://schemas.openxmlformats.org/officeDocument/2006/relationships/image" Target="/ppt/media/image.jpeg" Id="R7a0b318f19f0466c" /><Relationship Type="http://schemas.openxmlformats.org/officeDocument/2006/relationships/notesSlide" Target="/ppt/notesSlides/notesSlide1.xml" Id="Rab20522287d946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6f59aefae4a3e" /><Relationship Type="http://schemas.openxmlformats.org/officeDocument/2006/relationships/notesSlide" Target="/ppt/notesSlides/notesSlide2.xml" Id="Re00436dd701f41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9C2734B4-F489-4733-B7B4-59B4A629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3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陰影下的凹洞辨識：主架構不變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E8DCD10-7605-4483-AE8A-E7922487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0572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0912 YOLO11／IIMStem／AttentionResiduals／FSNetShuffle／10 CSAR／MSAT 皆保留；只改訓練</a:t>
            </a:r>
          </a:p>
        </p:txBody>
      </p:sp>
      <p:sp>
        <p:nvSpPr>
          <p:cNvPr id="3" name="shadow-step">
            <a:extLst xmlns:a="http://schemas.openxmlformats.org/drawingml/2006/main">
              <a:ext uri="{FF2B5EF4-FFF2-40B4-BE49-F238E27FC236}">
                <a16:creationId xmlns:a16="http://schemas.microsoft.com/office/drawing/2014/main" id="{27FA2D29-EB14-403C-9B39-FB096140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85925"/>
            <a:ext cx="652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1  合成陰影，保留原 GT</a:t>
            </a:r>
          </a:p>
        </p:txBody>
      </p:sp>
      <p:sp>
        <p:nvSpPr>
          <p:cNvPr id="4" name="shadow-formula">
            <a:extLst xmlns:a="http://schemas.openxmlformats.org/drawingml/2006/main">
              <a:ext uri="{FF2B5EF4-FFF2-40B4-BE49-F238E27FC236}">
                <a16:creationId xmlns:a16="http://schemas.microsoft.com/office/drawing/2014/main" id="{85C60380-8BF4-49E4-A98F-E6341746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38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x̃ = clip[x × (1 − a·σ(d / 0.15)), 0, 1]</a:t>
            </a:r>
          </a:p>
        </p:txBody>
      </p:sp>
      <p:sp>
        <p:nvSpPr>
          <p:cNvPr id="5" name="shadow-explain">
            <a:extLst xmlns:a="http://schemas.openxmlformats.org/drawingml/2006/main">
              <a:ext uri="{FF2B5EF4-FFF2-40B4-BE49-F238E27FC236}">
                <a16:creationId xmlns:a16="http://schemas.microsoft.com/office/drawing/2014/main" id="{C104B20B-913D-4AEF-AE4B-0705A54C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410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a ∈ [0.15, 0.45]；隨機方向的柔邊陰影。像素幾何、bbox 與 mask 不變。</a:t>
            </a:r>
          </a:p>
        </p:txBody>
      </p:sp>
      <p:sp>
        <p:nvSpPr>
          <p:cNvPr id="6" name="pair-step">
            <a:extLst xmlns:a="http://schemas.openxmlformats.org/drawingml/2006/main">
              <a:ext uri="{FF2B5EF4-FFF2-40B4-BE49-F238E27FC236}">
                <a16:creationId xmlns:a16="http://schemas.microsoft.com/office/drawing/2014/main" id="{9E20E0D0-9754-406B-993B-70EF0DDF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38500"/>
            <a:ext cx="652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2  原圖與陰影圖都做完整監督</a:t>
            </a:r>
          </a:p>
        </p:txBody>
      </p:sp>
      <p:sp>
        <p:nvSpPr>
          <p:cNvPr id="7" name="pair-formula">
            <a:extLst xmlns:a="http://schemas.openxmlformats.org/drawingml/2006/main">
              <a:ext uri="{FF2B5EF4-FFF2-40B4-BE49-F238E27FC236}">
                <a16:creationId xmlns:a16="http://schemas.microsoft.com/office/drawing/2014/main" id="{5FB750EE-25EB-4D21-B522-C1C1480F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Lpair = ½ [L₀(x, Y) + L₀(x̃, Y)]</a:t>
            </a:r>
          </a:p>
        </p:txBody>
      </p:sp>
      <p:sp>
        <p:nvSpPr>
          <p:cNvPr id="8" name="pair-explain">
            <a:extLst xmlns:a="http://schemas.openxmlformats.org/drawingml/2006/main">
              <a:ext uri="{FF2B5EF4-FFF2-40B4-BE49-F238E27FC236}">
                <a16:creationId xmlns:a16="http://schemas.microsoft.com/office/drawing/2014/main" id="{A43C4962-D1E4-492B-8CA7-C57CD0A7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同一模型一次處理 2B 個視角；陰影中的 D 仍是 D，不能改成背景。</a:t>
            </a:r>
          </a:p>
        </p:txBody>
      </p:sp>
      <p:sp>
        <p:nvSpPr>
          <p:cNvPr id="9" name="cons-step">
            <a:extLst xmlns:a="http://schemas.openxmlformats.org/drawingml/2006/main">
              <a:ext uri="{FF2B5EF4-FFF2-40B4-BE49-F238E27FC236}">
                <a16:creationId xmlns:a16="http://schemas.microsoft.com/office/drawing/2014/main" id="{FC0B56A8-616B-46E4-80E0-822A04C0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67275"/>
            <a:ext cx="652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3  只模仿正確且高信心的原圖預測</a:t>
            </a:r>
          </a:p>
        </p:txBody>
      </p:sp>
      <p:sp>
        <p:nvSpPr>
          <p:cNvPr id="10" name="cons-formula">
            <a:extLst xmlns:a="http://schemas.openxmlformats.org/drawingml/2006/main">
              <a:ext uri="{FF2B5EF4-FFF2-40B4-BE49-F238E27FC236}">
                <a16:creationId xmlns:a16="http://schemas.microsoft.com/office/drawing/2014/main" id="{14E941C0-E620-4B0C-AD8C-D93E0496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Lcons = mean[(p陰影 − stopgrad(p原圖))²]</a:t>
            </a:r>
          </a:p>
        </p:txBody>
      </p:sp>
      <p:sp>
        <p:nvSpPr>
          <p:cNvPr id="11" name="cons-explain">
            <a:extLst xmlns:a="http://schemas.openxmlformats.org/drawingml/2006/main">
              <a:ext uri="{FF2B5EF4-FFF2-40B4-BE49-F238E27FC236}">
                <a16:creationId xmlns:a16="http://schemas.microsoft.com/office/drawing/2014/main" id="{70A9074E-0E0B-4445-9501-A634342C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GT 前景且 p原圖 ≥ 0.7，或 GT 背景且 p原圖 ≤ 0.3；五尺度平均，gain = 0.2。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b318f19f0466c"/>
          <a:stretch xmlns:a="http://schemas.openxmlformats.org/drawingml/2006/main"/>
        </p:blipFill>
        <p:spPr>
          <a:xfrm xmlns:a="http://schemas.openxmlformats.org/drawingml/2006/main">
            <a:off x="7620000" y="1752600"/>
            <a:ext cx="3924300" cy="2943225"/>
          </a:xfrm>
          <a:prstGeom xmlns:a="http://schemas.openxmlformats.org/drawingml/2006/main" prst="rect">
            <a:avLst/>
          </a:prstGeom>
        </p:spPr>
      </p:pic>
      <p:sp>
        <p:nvSpPr>
          <p:cNvPr id="13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905000A5-DD0F-4BD2-9918-DF657574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781550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0912 推論示例（非 GT）</a:t>
            </a:r>
          </a:p>
        </p:txBody>
      </p:sp>
      <p:sp>
        <p:nvSpPr>
          <p:cNvPr id="14" name="slide-note">
            <a:extLst xmlns:a="http://schemas.openxmlformats.org/drawingml/2006/main">
              <a:ext uri="{FF2B5EF4-FFF2-40B4-BE49-F238E27FC236}">
                <a16:creationId xmlns:a16="http://schemas.microsoft.com/office/drawing/2014/main" id="{445066E5-E09F-434F-A6C8-F98B6EC0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67325"/>
            <a:ext cx="38766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核心問題：讓模型辨識陰影中的破損，而非輸出「陰影」類別。</a:t>
            </a:r>
          </a:p>
        </p:txBody>
      </p:sp>
    </p:spTree>
    <p:extLst>
      <p:ext uri="{BB962C8B-B14F-4D97-AF65-F5344CB8AC3E}">
        <p14:creationId xmlns:p14="http://schemas.microsoft.com/office/powerpoint/2010/main" val="14310021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68BAA73-6396-44EC-B2A6-1AB64152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七版消融：陰影、輪廓與真 D／R 交集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42C52D-32CC-40AF-A858-F2F3D9D4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0572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全部維持相同推論圖；原 0912 多標籤共存加權仍存在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1600200"/>
          <a:ext xmlns:a="http://schemas.openxmlformats.org/drawingml/2006/main" cx="10896600" cy="3552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076325"/>
                <a:gridCol w="1238250"/>
                <a:gridCol w="1047750"/>
                <a:gridCol w="1143000"/>
                <a:gridCol w="4391025"/>
              </a:tblGrid>
              <a:tr h="44410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YAML 版本</a:t>
                      </a:r>
                    </a:p>
                  </a:txBody>
                  <a:tcPr marL="91440" marR="91440" marT="45720" marB="45720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雙視角</a:t>
                      </a:r>
                    </a:p>
                  </a:txBody>
                  <a:tcPr marL="91440" marR="91440" marT="45720" marB="45720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一致性</a:t>
                      </a:r>
                    </a:p>
                  </a:txBody>
                  <a:tcPr marL="91440" marR="91440" marT="45720" marB="45720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邊界</a:t>
                      </a:r>
                    </a:p>
                  </a:txBody>
                  <a:tcPr marL="91440" marR="91440" marT="45720" marB="45720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真 D∩R</a:t>
                      </a:r>
                    </a:p>
                  </a:txBody>
                  <a:tcPr marL="91440" marR="91440" marT="45720" marB="45720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主要研究問題</a:t>
                      </a:r>
                    </a:p>
                  </a:txBody>
                  <a:tcPr marL="91440" marR="91440" marT="45720" marB="45720">
                    <a:solidFill>
                      <a:srgbClr val="14243A"/>
                    </a:solidFill>
                  </a:tcPr>
                </a:tc>
              </a:tr>
              <a:tr h="44410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0912 基準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410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shadow-aug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陰影曝光本身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  <a:tr h="44410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consistency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光照穩定性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410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boundary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0.1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凹洞輪廓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  <a:tr h="44410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overlap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鏽蝕／凹洞真交疊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410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shadow-boundary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0.2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0.1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暗處形狀辨識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  <a:tr h="44410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三者互補性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undary-detail">
            <a:extLst xmlns:a="http://schemas.openxmlformats.org/drawingml/2006/main">
              <a:ext uri="{FF2B5EF4-FFF2-40B4-BE49-F238E27FC236}">
                <a16:creationId xmlns:a16="http://schemas.microsoft.com/office/drawing/2014/main" id="{EDE357C8-98EC-49EC-8707-DBE3BF55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8680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邊界  B(M) = max₃×₃(M) − min₃×₃(M)；用實例 mask 的輪廓監督，不把 RGB 陰影線當 GT。</a:t>
            </a:r>
          </a:p>
        </p:txBody>
      </p:sp>
      <p:sp>
        <p:nvSpPr>
          <p:cNvPr id="5" name="overlap-detail">
            <a:extLst xmlns:a="http://schemas.openxmlformats.org/drawingml/2006/main">
              <a:ext uri="{FF2B5EF4-FFF2-40B4-BE49-F238E27FC236}">
                <a16:creationId xmlns:a16="http://schemas.microsoft.com/office/drawing/2014/main" id="{543D4B53-5D2B-4057-97F5-4F5D23FD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868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交集  q(D∩R) = σ(zD)σ(zR)；只在真交疊影像啟用，D 不必伴隨 R。</a:t>
            </a:r>
          </a:p>
        </p:txBody>
      </p:sp>
      <p:sp>
        <p:nvSpPr>
          <p:cNvPr id="6" name="risk-detail">
            <a:extLst xmlns:a="http://schemas.openxmlformats.org/drawingml/2006/main">
              <a:ext uri="{FF2B5EF4-FFF2-40B4-BE49-F238E27FC236}">
                <a16:creationId xmlns:a16="http://schemas.microsoft.com/office/drawing/2014/main" id="{BE49376F-C18C-4BB2-BF44-6640217B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10868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驗證重點：陰影／亮部 D recall、D+R 重疊、R precision、純陰影誤報；雙視角增加計算與顯存。</a:t>
            </a:r>
          </a:p>
        </p:txBody>
      </p:sp>
    </p:spTree>
    <p:extLst>
      <p:ext uri="{BB962C8B-B14F-4D97-AF65-F5344CB8AC3E}">
        <p14:creationId xmlns:p14="http://schemas.microsoft.com/office/powerpoint/2010/main" val="682803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2026-09-18T10:47:48.2940000Z</dcterms:created>
  <dcterms:modified xsi:type="dcterms:W3CDTF">2026-09-18T10:47:48.2940000Z</dcterms:modified>
</coreProperties>
</file>