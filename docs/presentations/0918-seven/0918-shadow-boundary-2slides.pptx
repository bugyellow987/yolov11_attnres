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63a06d613e4685" /><Relationship Type="http://schemas.openxmlformats.org/officeDocument/2006/relationships/extended-properties" Target="/docProps/app.xml" Id="R51ee6113be3f4132" /><Relationship Type="http://schemas.openxmlformats.org/officeDocument/2006/relationships/officeDocument" Target="/ppt/presentation.xml" Id="Rc4a517f5bf1f42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dee4b12b0749d2"/>
  </p:sldMasterIdLst>
  <p:notesMasterIdLst>
    <p:notesMasterId xmlns:r="http://schemas.openxmlformats.org/officeDocument/2006/relationships" r:id="R0f863d5627b64ecc"/>
  </p:notesMasterIdLst>
  <p:sldIdLst>
    <p:sldId xmlns:r="http://schemas.openxmlformats.org/officeDocument/2006/relationships" id="256" r:id="R9cb8e3a3911c48f0"/>
    <p:sldId xmlns:r="http://schemas.openxmlformats.org/officeDocument/2006/relationships" id="257" r:id="R5f56e88b0a1347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a5f2e6e07407d" /><Relationship Type="http://schemas.openxmlformats.org/officeDocument/2006/relationships/slideMaster" Target="/ppt/slideMasters/slideMaster1.xml" Id="R7edee4b12b0749d2" /><Relationship Type="http://schemas.openxmlformats.org/officeDocument/2006/relationships/notesMaster" Target="/ppt/notesMasters/notesMaster1.xml" Id="R0f863d5627b64ecc" /><Relationship Type="http://schemas.openxmlformats.org/officeDocument/2006/relationships/presProps" Target="/ppt/presProps.xml" Id="R98cd97971e5b4175" /><Relationship Type="http://schemas.openxmlformats.org/officeDocument/2006/relationships/tableStyles" Target="/ppt/tableStyles.xml" Id="R80ffc48bbdbc488a" /><Relationship Type="http://schemas.openxmlformats.org/officeDocument/2006/relationships/slide" Target="/ppt/slides/slide1.xml" Id="R9cb8e3a3911c48f0" /><Relationship Type="http://schemas.openxmlformats.org/officeDocument/2006/relationships/slide" Target="/ppt/slides/slide2.xml" Id="R5f56e88b0a1347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49bcbece5b49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e83601a213424f" /><Relationship Type="http://schemas.openxmlformats.org/officeDocument/2006/relationships/notesMaster" Target="/ppt/notesMasters/notesMaster1.xml" Id="Rd9bc34d498e443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4cb85689d476b" /><Relationship Type="http://schemas.openxmlformats.org/officeDocument/2006/relationships/notesMaster" Target="/ppt/notesMasters/notesMaster1.xml" Id="Rc780ad1345464a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YAML：ultralytics/cfg/models/11_myself/yolo11-10csar-dr-trainonly-0918-shadow-boundary.yaml。數學與訓練流程來源：ultralytics/utils/training_aux_ops.py、ultralytics/utils/training_aux_0918.py、ultralytics/utils/loss.py。圖片為使用者提供的 0912 推論疊圖，不是 GT，也不是本次七版的測試結果。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對應 YAML：ultralytics/cfg/models/11_myself/yolo11-10csar-dr-trainonly-0918-shadow-boundary.yaml。機制來源：ultralytics/utils/training_aux_ops.py、ultralytics/utils/training_aux_0918.py、ultralytics/utils/loss.py。所有改善敘述均為待驗證假說，目前沒有完整真實貨櫃資料集的七版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6bdaf844d449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884fe034c9469a" /><Relationship Type="http://schemas.openxmlformats.org/officeDocument/2006/relationships/slideLayout" Target="/ppt/slideLayouts/slideLayout1.xml" Id="Rf1ec781f84a844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ec781f84a844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e2995d904acb" /><Relationship Type="http://schemas.openxmlformats.org/officeDocument/2006/relationships/image" Target="/ppt/media/image.jpeg" Id="R6d7cd1a0315e4d10" /><Relationship Type="http://schemas.openxmlformats.org/officeDocument/2006/relationships/notesSlide" Target="/ppt/notesSlides/notesSlide1.xml" Id="R50686775f32444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fb0eeba8b4621" /><Relationship Type="http://schemas.openxmlformats.org/officeDocument/2006/relationships/notesSlide" Target="/ppt/notesSlides/notesSlide2.xml" Id="R42b9f285ea3242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0EF0C66C-C82D-4851-A442-20C9FB5E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Shadow + Boundary：暗處形狀辨識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D76883-93A7-4C78-AB04-F41B458E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雙視角監督 + 一致性 0.2 + 實例邊界 0.1；新交集 gain = 0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23FEE8BA-FF2A-44B8-A863-12BEC445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1  合成陰影保持真值</a:t>
            </a:r>
          </a:p>
        </p:txBody>
      </p:sp>
      <p:sp>
        <p:nvSpPr>
          <p:cNvPr id="4" name="formula-0">
            <a:extLst xmlns:a="http://schemas.openxmlformats.org/drawingml/2006/main">
              <a:ext uri="{FF2B5EF4-FFF2-40B4-BE49-F238E27FC236}">
                <a16:creationId xmlns:a16="http://schemas.microsoft.com/office/drawing/2014/main" id="{97861E57-02DF-4426-90C3-D37880AB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08597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x̃ = clip[x·(1 − aσ(d / 0.15)), 0, 1]</a:t>
            </a:r>
          </a:p>
        </p:txBody>
      </p:sp>
      <p:sp>
        <p:nvSpPr>
          <p:cNvPr id="5" name="explain-0">
            <a:extLst xmlns:a="http://schemas.openxmlformats.org/drawingml/2006/main">
              <a:ext uri="{FF2B5EF4-FFF2-40B4-BE49-F238E27FC236}">
                <a16:creationId xmlns:a16="http://schemas.microsoft.com/office/drawing/2014/main" id="{B301969D-B4CB-4F0E-991D-FD138E31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8127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同一凹洞在原圖與陰影圖都使用原 GT。</a:t>
            </a:r>
          </a:p>
        </p:txBody>
      </p:sp>
      <p:sp>
        <p:nvSpPr>
          <p:cNvPr id="6" name="step-1">
            <a:extLst xmlns:a="http://schemas.openxmlformats.org/drawingml/2006/main">
              <a:ext uri="{FF2B5EF4-FFF2-40B4-BE49-F238E27FC236}">
                <a16:creationId xmlns:a16="http://schemas.microsoft.com/office/drawing/2014/main" id="{AD6118B3-F135-4AB4-8996-D83BC83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33725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2  兩視角都學實例邊界</a:t>
            </a:r>
          </a:p>
        </p:txBody>
      </p:sp>
      <p:sp>
        <p:nvSpPr>
          <p:cNvPr id="7" name="formula-1">
            <a:extLst xmlns:a="http://schemas.openxmlformats.org/drawingml/2006/main">
              <a:ext uri="{FF2B5EF4-FFF2-40B4-BE49-F238E27FC236}">
                <a16:creationId xmlns:a16="http://schemas.microsoft.com/office/drawing/2014/main" id="{D6E1B681-4664-43E5-AEB1-2610DF23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LA(x) = L₀(x) + 0.1 LB(x)</a:t>
            </a:r>
          </a:p>
        </p:txBody>
      </p:sp>
      <p:sp>
        <p:nvSpPr>
          <p:cNvPr id="8" name="explain-1">
            <a:extLst xmlns:a="http://schemas.openxmlformats.org/drawingml/2006/main">
              <a:ext uri="{FF2B5EF4-FFF2-40B4-BE49-F238E27FC236}">
                <a16:creationId xmlns:a16="http://schemas.microsoft.com/office/drawing/2014/main" id="{674E9AB6-8C68-4212-8EE4-630C0382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019550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LB 包含邊界 Dice 與 GT 邊帶 BCE，實際還經原 seg 正規化。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96AD21CD-05FF-4952-A4DD-BEDC485D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652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3  以可信原圖穩定陰影預測</a:t>
            </a:r>
          </a:p>
        </p:txBody>
      </p:sp>
      <p:sp>
        <p:nvSpPr>
          <p:cNvPr id="10" name="formula-2">
            <a:extLst xmlns:a="http://schemas.openxmlformats.org/drawingml/2006/main">
              <a:ext uri="{FF2B5EF4-FFF2-40B4-BE49-F238E27FC236}">
                <a16:creationId xmlns:a16="http://schemas.microsoft.com/office/drawing/2014/main" id="{A73E04A2-014B-49A2-86F4-F903BF97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62525"/>
            <a:ext cx="652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L = ½[LA(x)+LA(x̃)] + 0.2 LC</a:t>
            </a:r>
          </a:p>
        </p:txBody>
      </p:sp>
      <p:sp>
        <p:nvSpPr>
          <p:cNvPr id="11" name="explain-2">
            <a:extLst xmlns:a="http://schemas.openxmlformats.org/drawingml/2006/main">
              <a:ext uri="{FF2B5EF4-FFF2-40B4-BE49-F238E27FC236}">
                <a16:creationId xmlns:a16="http://schemas.microsoft.com/office/drawing/2014/main" id="{F78E11E4-01C0-4B74-A290-0B7CE978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6515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LC 僅在原圖預測符合 GT 且信心達門檻時啟用。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cd1a0315e4d10"/>
          <a:stretch xmlns:a="http://schemas.openxmlformats.org/drawingml/2006/main"/>
        </p:blipFill>
        <p:spPr>
          <a:xfrm xmlns:a="http://schemas.openxmlformats.org/drawingml/2006/main">
            <a:off x="7639050" y="1831181"/>
            <a:ext cx="3905250" cy="2928938"/>
          </a:xfrm>
          <a:prstGeom xmlns:a="http://schemas.openxmlformats.org/drawingml/2006/main" prst="rect">
            <a:avLst/>
          </a:prstGeom>
        </p:spPr>
      </p:pic>
      <p:sp>
        <p:nvSpPr>
          <p:cNvPr id="13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2745CD33-5465-46C1-9363-EB1405EB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857750"/>
            <a:ext cx="3857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0912 推論示例（非 GT）</a:t>
            </a:r>
          </a:p>
        </p:txBody>
      </p:sp>
      <p:sp>
        <p:nvSpPr>
          <p:cNvPr id="14" name="callout">
            <a:extLst xmlns:a="http://schemas.openxmlformats.org/drawingml/2006/main">
              <a:ext uri="{FF2B5EF4-FFF2-40B4-BE49-F238E27FC236}">
                <a16:creationId xmlns:a16="http://schemas.microsoft.com/office/drawing/2014/main" id="{5A0CAB09-1C6D-4EFA-BB50-6A15ACB1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3886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07C81"/>
                </a:solidFill>
                <a:latin typeface="Noto Sans TC"/>
                <a:ea typeface="Noto Sans TC"/>
                <a:cs typeface="Noto Sans TC"/>
              </a:rPr>
              <a:t>同時訓練暗處的分類穩定性與破損輪廓，沒有新增推論分支。</a:t>
            </a:r>
          </a:p>
        </p:txBody>
      </p:sp>
    </p:spTree>
    <p:extLst>
      <p:ext uri="{BB962C8B-B14F-4D97-AF65-F5344CB8AC3E}">
        <p14:creationId xmlns:p14="http://schemas.microsoft.com/office/powerpoint/2010/main" val="1995299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2DD8DD2-B134-4F98-BF99-68A36F17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14243A"/>
                </a:solidFill>
                <a:latin typeface="Noto Sans TC"/>
                <a:ea typeface="Noto Sans TC"/>
                <a:cs typeface="Noto Sans TC"/>
              </a:rPr>
              <a:t>Shadow + Boundary：暗處形狀辨識：影響與驗證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B276230-3BC1-477B-BC6B-DEAF9EF2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382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研究目標是辨識陰影中的損傷。此模型沒有輸出陰影類別或陰影 mask。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57225" y="1628775"/>
          <a:ext xmlns:a="http://schemas.openxmlformats.org/drawingml/2006/main" cx="10877550" cy="4114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8829675"/>
              </a:tblGrid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影像辨識作用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陰影擾動讓模型接觸低亮度；邊界項要求保留 mask 幾何；一致性減少亮暗預測落差。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陰影下的 D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最直接對應「陰影中的凹洞漏檢且輪廓弱」。改善只是研究假說，須與單一機制比較。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代價與風險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2B 視角增加計算與顯存。錯誤邊界標註可放大噪音；可信 teacher 太少會削弱一致性。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7C81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驗證對照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4243A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與 consistency 比可隔離邊界貢獻；與 boundary 比會同時加入陰影曝光與一致性，需謹慎解讀。</a:t>
                      </a:r>
                    </a:p>
                  </a:txBody>
                  <a:tcPr marL="91440" marR="91440" marT="45720" marB="45720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F649429-4904-4B9E-9A79-D062D0A9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10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475569"/>
                </a:solidFill>
                <a:latin typeface="Noto Sans TC"/>
                <a:ea typeface="Noto Sans TC"/>
                <a:cs typeface="Noto Sans TC"/>
              </a:rPr>
              <a:t>原 0912 的多標籤共存加權仍在；本版只是未啟用新增的真交集 loss。</a:t>
            </a:r>
          </a:p>
        </p:txBody>
      </p:sp>
    </p:spTree>
    <p:extLst>
      <p:ext uri="{BB962C8B-B14F-4D97-AF65-F5344CB8AC3E}">
        <p14:creationId xmlns:p14="http://schemas.microsoft.com/office/powerpoint/2010/main" val="47746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2026-09-18T10:57:05.5950000Z</dcterms:created>
  <dcterms:modified xsi:type="dcterms:W3CDTF">2026-09-18T10:57:05.5950000Z</dcterms:modified>
</coreProperties>
</file>