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e74164d77b4b42" /><Relationship Type="http://schemas.openxmlformats.org/officeDocument/2006/relationships/extended-properties" Target="/docProps/app.xml" Id="R69eb324f016c4853" /><Relationship Type="http://schemas.openxmlformats.org/officeDocument/2006/relationships/officeDocument" Target="/ppt/presentation.xml" Id="Rcbf512bb8c2f47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d8d7972fe84e38"/>
  </p:sldMasterIdLst>
  <p:notesMasterIdLst>
    <p:notesMasterId xmlns:r="http://schemas.openxmlformats.org/officeDocument/2006/relationships" r:id="Rf8c4484f8f7b4389"/>
  </p:notesMasterIdLst>
  <p:sldIdLst>
    <p:sldId xmlns:r="http://schemas.openxmlformats.org/officeDocument/2006/relationships" id="256" r:id="R0f77ae78364b4c2d"/>
    <p:sldId xmlns:r="http://schemas.openxmlformats.org/officeDocument/2006/relationships" id="257" r:id="R630b6455e14f4e1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e56722e2aa4e2b" /><Relationship Type="http://schemas.openxmlformats.org/officeDocument/2006/relationships/slideMaster" Target="/ppt/slideMasters/slideMaster1.xml" Id="R3ed8d7972fe84e38" /><Relationship Type="http://schemas.openxmlformats.org/officeDocument/2006/relationships/notesMaster" Target="/ppt/notesMasters/notesMaster1.xml" Id="Rf8c4484f8f7b4389" /><Relationship Type="http://schemas.openxmlformats.org/officeDocument/2006/relationships/presProps" Target="/ppt/presProps.xml" Id="Rf56f1d20d1a34613" /><Relationship Type="http://schemas.openxmlformats.org/officeDocument/2006/relationships/tableStyles" Target="/ppt/tableStyles.xml" Id="Rdaa8321b76354571" /><Relationship Type="http://schemas.openxmlformats.org/officeDocument/2006/relationships/slide" Target="/ppt/slides/slide1.xml" Id="R0f77ae78364b4c2d" /><Relationship Type="http://schemas.openxmlformats.org/officeDocument/2006/relationships/slide" Target="/ppt/slides/slide2.xml" Id="R630b6455e14f4e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73698dd14f44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acc78358a5471f" /><Relationship Type="http://schemas.openxmlformats.org/officeDocument/2006/relationships/notesMaster" Target="/ppt/notesMasters/notesMaster1.xml" Id="R256ea7cceff24d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1ada89cec843c5" /><Relationship Type="http://schemas.openxmlformats.org/officeDocument/2006/relationships/notesMaster" Target="/ppt/notesMasters/notesMaster1.xml" Id="R8b7f5d8d980647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對應 YAML：ultralytics/cfg/models/11_myself/yolo11-10csar-dr-trainonly-0918-consistency.yaml。數學與訓練流程來源：ultralytics/utils/training_aux_ops.py、ultralytics/utils/training_aux_0918.py、ultralytics/utils/loss.py。圖片為使用者提供的 0912 推論疊圖，不是 GT，也不是本次七版的測試結果。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對應 YAML：ultralytics/cfg/models/11_myself/yolo11-10csar-dr-trainonly-0918-consistency.yaml。機制來源：ultralytics/utils/training_aux_ops.py、ultralytics/utils/training_aux_0918.py、ultralytics/utils/loss.py。所有改善敘述均為待驗證假說，目前沒有完整真實貨櫃資料集的七版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d415d9ca024a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ae7a102ed54b7d" /><Relationship Type="http://schemas.openxmlformats.org/officeDocument/2006/relationships/slideLayout" Target="/ppt/slideLayouts/slideLayout1.xml" Id="R983e8874d2e440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3e8874d2e440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edfda6233d4a06" /><Relationship Type="http://schemas.openxmlformats.org/officeDocument/2006/relationships/image" Target="/ppt/media/image.jpeg" Id="Rfdb5213db2fe4f82" /><Relationship Type="http://schemas.openxmlformats.org/officeDocument/2006/relationships/notesSlide" Target="/ppt/notesSlides/notesSlide1.xml" Id="Rcf7ec5143a2b44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3d4106349a4808" /><Relationship Type="http://schemas.openxmlformats.org/officeDocument/2006/relationships/notesSlide" Target="/ppt/notesSlides/notesSlide2.xml" Id="Rb6c9b2d9bd814c8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7BAE0116-7B52-41E9-935A-9F131B1E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"/>
            <a:ext cx="10820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43A"/>
                </a:solidFill>
                <a:latin typeface="Noto Sans TC"/>
                <a:ea typeface="Noto Sans TC"/>
                <a:cs typeface="Noto Sans TC"/>
              </a:defRPr>
            </a:pPr>
            <a:r>
              <a:rPr sz="3225" b="1">
                <a:solidFill>
                  <a:srgbClr val="14243A"/>
                </a:solidFill>
                <a:latin typeface="Noto Sans TC"/>
                <a:ea typeface="Noto Sans TC"/>
                <a:cs typeface="Noto Sans TC"/>
              </a:rPr>
              <a:t>Consistency：陰影前後輸出穩定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F6D5EF9-24E8-4D72-9027-7432E752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382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與 shadow-aug 相同的雙視角；另加 gain 0.2 的五尺度一致性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BE544060-7558-435D-9A8B-D51326CF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652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C81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07C81"/>
                </a:solidFill>
                <a:latin typeface="Noto Sans TC"/>
                <a:ea typeface="Noto Sans TC"/>
                <a:cs typeface="Noto Sans TC"/>
              </a:rPr>
              <a:t>1  成對監督仍保留</a:t>
            </a:r>
          </a:p>
        </p:txBody>
      </p:sp>
      <p:sp>
        <p:nvSpPr>
          <p:cNvPr id="4" name="formula-0">
            <a:extLst xmlns:a="http://schemas.openxmlformats.org/drawingml/2006/main">
              <a:ext uri="{FF2B5EF4-FFF2-40B4-BE49-F238E27FC236}">
                <a16:creationId xmlns:a16="http://schemas.microsoft.com/office/drawing/2014/main" id="{09A85F5F-68B8-43CE-8936-27EBCBE1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85975"/>
            <a:ext cx="652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243A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4243A"/>
                </a:solidFill>
                <a:latin typeface="Noto Sans TC"/>
                <a:ea typeface="Noto Sans TC"/>
                <a:cs typeface="Noto Sans TC"/>
              </a:rPr>
              <a:t>Lpair = ½[L₀(x,Y) + L₀(x̃,Y)]</a:t>
            </a:r>
          </a:p>
        </p:txBody>
      </p:sp>
      <p:sp>
        <p:nvSpPr>
          <p:cNvPr id="5" name="explain-0">
            <a:extLst xmlns:a="http://schemas.openxmlformats.org/drawingml/2006/main">
              <a:ext uri="{FF2B5EF4-FFF2-40B4-BE49-F238E27FC236}">
                <a16:creationId xmlns:a16="http://schemas.microsoft.com/office/drawing/2014/main" id="{D909BA7F-7F9E-4119-ABCA-A9754137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81275"/>
            <a:ext cx="651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陰影圖不靠 teacher 取代 GT，兩個視角都受真實 mask 監督。</a:t>
            </a:r>
          </a:p>
        </p:txBody>
      </p:sp>
      <p:sp>
        <p:nvSpPr>
          <p:cNvPr id="6" name="step-1">
            <a:extLst xmlns:a="http://schemas.openxmlformats.org/drawingml/2006/main">
              <a:ext uri="{FF2B5EF4-FFF2-40B4-BE49-F238E27FC236}">
                <a16:creationId xmlns:a16="http://schemas.microsoft.com/office/drawing/2014/main" id="{39E78474-99EC-4F3C-B95A-303A2F5F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652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C81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07C81"/>
                </a:solidFill>
                <a:latin typeface="Noto Sans TC"/>
                <a:ea typeface="Noto Sans TC"/>
                <a:cs typeface="Noto Sans TC"/>
              </a:rPr>
              <a:t>2  只有 teacher 符合 GT 才比較</a:t>
            </a:r>
          </a:p>
        </p:txBody>
      </p:sp>
      <p:sp>
        <p:nvSpPr>
          <p:cNvPr id="7" name="formula-1">
            <a:extLst xmlns:a="http://schemas.openxmlformats.org/drawingml/2006/main">
              <a:ext uri="{FF2B5EF4-FFF2-40B4-BE49-F238E27FC236}">
                <a16:creationId xmlns:a16="http://schemas.microsoft.com/office/drawing/2014/main" id="{DF75297E-AE95-43C5-B9EE-17A6676F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524250"/>
            <a:ext cx="652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243A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4243A"/>
                </a:solidFill>
                <a:latin typeface="Noto Sans TC"/>
                <a:ea typeface="Noto Sans TC"/>
                <a:cs typeface="Noto Sans TC"/>
              </a:rPr>
              <a:t>P = {Y=1, t≥0.7}；N = {Y=0, t≤0.3}</a:t>
            </a:r>
          </a:p>
        </p:txBody>
      </p:sp>
      <p:sp>
        <p:nvSpPr>
          <p:cNvPr id="8" name="explain-1">
            <a:extLst xmlns:a="http://schemas.openxmlformats.org/drawingml/2006/main">
              <a:ext uri="{FF2B5EF4-FFF2-40B4-BE49-F238E27FC236}">
                <a16:creationId xmlns:a16="http://schemas.microsoft.com/office/drawing/2014/main" id="{24AB3072-2A98-4A31-8EFE-389F80A1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19550"/>
            <a:ext cx="651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t 是原圖 sigmoid 輸出並 stop-gradient；P、N 分別平均。</a:t>
            </a:r>
          </a:p>
        </p:txBody>
      </p:sp>
      <p:sp>
        <p:nvSpPr>
          <p:cNvPr id="9" name="step-2">
            <a:extLst xmlns:a="http://schemas.openxmlformats.org/drawingml/2006/main">
              <a:ext uri="{FF2B5EF4-FFF2-40B4-BE49-F238E27FC236}">
                <a16:creationId xmlns:a16="http://schemas.microsoft.com/office/drawing/2014/main" id="{D62E8B67-32B6-4730-9F0A-180F2E5C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652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C81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07C81"/>
                </a:solidFill>
                <a:latin typeface="Noto Sans TC"/>
                <a:ea typeface="Noto Sans TC"/>
                <a:cs typeface="Noto Sans TC"/>
              </a:rPr>
              <a:t>3  拉近陰影與原圖機率</a:t>
            </a:r>
          </a:p>
        </p:txBody>
      </p:sp>
      <p:sp>
        <p:nvSpPr>
          <p:cNvPr id="10" name="formula-2">
            <a:extLst xmlns:a="http://schemas.openxmlformats.org/drawingml/2006/main">
              <a:ext uri="{FF2B5EF4-FFF2-40B4-BE49-F238E27FC236}">
                <a16:creationId xmlns:a16="http://schemas.microsoft.com/office/drawing/2014/main" id="{FA4EF068-4F33-45E1-A7AE-7B320466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62525"/>
            <a:ext cx="652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243A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4243A"/>
                </a:solidFill>
                <a:latin typeface="Noto Sans TC"/>
                <a:ea typeface="Noto Sans TC"/>
                <a:cs typeface="Noto Sans TC"/>
              </a:rPr>
              <a:t>LC = ⅕Σs meanP,N[(ps − stopgrad(ts))²]</a:t>
            </a:r>
          </a:p>
        </p:txBody>
      </p:sp>
      <p:sp>
        <p:nvSpPr>
          <p:cNvPr id="11" name="explain-2">
            <a:extLst xmlns:a="http://schemas.openxmlformats.org/drawingml/2006/main">
              <a:ext uri="{FF2B5EF4-FFF2-40B4-BE49-F238E27FC236}">
                <a16:creationId xmlns:a16="http://schemas.microsoft.com/office/drawing/2014/main" id="{4FDCDE68-E6F3-4A91-8B87-F21A7B47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457825"/>
            <a:ext cx="651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陰影 student 在五個 MSAT 尺度計算；總 loss 增加 0.2LC。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b5213db2fe4f82"/>
          <a:stretch xmlns:a="http://schemas.openxmlformats.org/drawingml/2006/main"/>
        </p:blipFill>
        <p:spPr>
          <a:xfrm xmlns:a="http://schemas.openxmlformats.org/drawingml/2006/main">
            <a:off x="7639050" y="1831181"/>
            <a:ext cx="3905250" cy="2928938"/>
          </a:xfrm>
          <a:prstGeom xmlns:a="http://schemas.openxmlformats.org/drawingml/2006/main" prst="rect">
            <a:avLst/>
          </a:prstGeom>
        </p:spPr>
      </p:pic>
      <p:sp>
        <p:nvSpPr>
          <p:cNvPr id="13" name="photo-caption">
            <a:extLst xmlns:a="http://schemas.openxmlformats.org/drawingml/2006/main">
              <a:ext uri="{FF2B5EF4-FFF2-40B4-BE49-F238E27FC236}">
                <a16:creationId xmlns:a16="http://schemas.microsoft.com/office/drawing/2014/main" id="{A9FA9109-2A81-4EA2-9154-A5E7B5DC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857750"/>
            <a:ext cx="3857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0912 推論示例（非 GT）</a:t>
            </a:r>
          </a:p>
        </p:txBody>
      </p:sp>
      <p:sp>
        <p:nvSpPr>
          <p:cNvPr id="14" name="callout">
            <a:extLst xmlns:a="http://schemas.openxmlformats.org/drawingml/2006/main">
              <a:ext uri="{FF2B5EF4-FFF2-40B4-BE49-F238E27FC236}">
                <a16:creationId xmlns:a16="http://schemas.microsoft.com/office/drawing/2014/main" id="{A2973C28-FE06-4CFA-87F8-A0DC4C7F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353050"/>
            <a:ext cx="3886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7C81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007C81"/>
                </a:solidFill>
                <a:latin typeface="Noto Sans TC"/>
                <a:ea typeface="Noto Sans TC"/>
                <a:cs typeface="Noto Sans TC"/>
              </a:rPr>
              <a:t>原圖若漏掉真 D，該像素不當 teacher；仍由兩視角 GT loss 學習。</a:t>
            </a:r>
          </a:p>
        </p:txBody>
      </p:sp>
    </p:spTree>
    <p:extLst>
      <p:ext uri="{BB962C8B-B14F-4D97-AF65-F5344CB8AC3E}">
        <p14:creationId xmlns:p14="http://schemas.microsoft.com/office/powerpoint/2010/main" val="6979043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25C9879-74A0-4212-B509-69F6AF03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43A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4243A"/>
                </a:solidFill>
                <a:latin typeface="Noto Sans TC"/>
                <a:ea typeface="Noto Sans TC"/>
                <a:cs typeface="Noto Sans TC"/>
              </a:rPr>
              <a:t>Consistency：陰影前後輸出穩定：影響與驗證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ED24AF4-56E8-4012-B953-9D03DA4A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38225"/>
            <a:ext cx="10763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75569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研究目標是辨識陰影中的損傷。此模型沒有輸出陰影類別或陰影 mask。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57225" y="1628775"/>
          <a:ext xmlns:a="http://schemas.openxmlformats.org/drawingml/2006/main" cx="1087755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47875"/>
                <a:gridCol w="8829675"/>
              </a:tblGrid>
              <a:tr h="10287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7C8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影像辨識作用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4243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對原圖已判對的 D，要求陰影圖保留相近機率。對 GT 背景，可信原圖低分可壓制陰影假陽性。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7C8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陰影下的 D</a:t>
                      </a:r>
                    </a:p>
                  </a:txBody>
                  <a:tcPr marL="91440" marR="91440" marT="45720" marB="45720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4243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預期可減少同一凹洞在亮暗兩視角的預測落差。前景與背景分開平均，避免大量背景主導。</a:t>
                      </a:r>
                    </a:p>
                  </a:txBody>
                  <a:tcPr marL="91440" marR="91440" marT="45720" marB="45720">
                    <a:solidFill>
                      <a:srgbClr val="F3F6F8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7C8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代價與風險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4243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teacher 若對困難 D 不夠可靠，該處一致性為零。極端飽和 sigmoid 的一致性梯度也可能很弱。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7C8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驗證對照</a:t>
                      </a:r>
                    </a:p>
                  </a:txBody>
                  <a:tcPr marL="91440" marR="91440" marT="45720" marB="45720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4243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優先與 shadow-aug 比較，兩者同為 2B 視角。量測陰影 D recall、純陰影誤報與預測落差。</a:t>
                      </a:r>
                    </a:p>
                  </a:txBody>
                  <a:tcPr marL="91440" marR="91440" marT="45720" marB="45720"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7FD1453-A152-4272-8787-6F6162DF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81700"/>
            <a:ext cx="10810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teacher 是同一模型原圖分支，沒有 EMA、第二套權重或陰影類別。</a:t>
            </a:r>
          </a:p>
        </p:txBody>
      </p:sp>
    </p:spTree>
    <p:extLst>
      <p:ext uri="{BB962C8B-B14F-4D97-AF65-F5344CB8AC3E}">
        <p14:creationId xmlns:p14="http://schemas.microsoft.com/office/powerpoint/2010/main" val="14846650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2026-09-18T10:56:50.7890000Z</dcterms:created>
  <dcterms:modified xsi:type="dcterms:W3CDTF">2026-09-18T10:56:50.7890000Z</dcterms:modified>
</coreProperties>
</file>